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Voice Agent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8D4D9"/>
                </a:solidFill>
                <a:latin typeface="Calibri"/>
              </a:rPr>
              <a:t>Why We're Building, Not Buying — Problem, Market Survey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AAEC2"/>
                </a:solidFill>
                <a:latin typeface="Calibri"/>
              </a:rPr>
              <a:t>Engineering Review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A Live Agent We Can't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The voice ordering agent is live today — Ultravox runtime + AWS Lambda/API Gateway (echobot-studio-backend).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It gets patched reactively, with no way to tell whether a fix actually improved it.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No reviewable quality dashboard exists for non-engineers.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No automated pre-release regression check runs before a deploy.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22B4F"/>
                </a:solidFill>
                <a:latin typeface="Calibri"/>
              </a:rPr>
              <a:t>Net effect: every fix today is a guess, and we have no record of whether the agent is getting better or worse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idea.md, Finding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The North Star: Three Headline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22B4F"/>
                </a:solidFill>
                <a:latin typeface="Calibri"/>
              </a:rPr>
              <a:t>1.  Order accuracy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    Did the final order match what the customer actually asked for?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22B4F"/>
                </a:solidFill>
                <a:latin typeface="Calibri"/>
              </a:rPr>
              <a:t>2.  Escalation correctness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    Did the agent hand off to a human exactly when it should have?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22B4F"/>
                </a:solidFill>
                <a:latin typeface="Calibri"/>
              </a:rPr>
              <a:t>3.  Conversation completion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    Did the call reach a real business end-state (order placed, handed off, etc.)?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Every milestone in this framework either moves one of these three metrics, or is explicitly flagged as "de-risking only."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idea.md, Finding 6 / plan.md north-star alignment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What We're Building Against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Ultravox runtime — real-time Data Connection WebSocket: state transitions, transcript deltas, ping/pong.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AWS Lambda / API Gateway tool calls — add / edit / delete order item, etc.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DynamoDB tables read by the eval layer — call-messages, call_order_facts, transaction_details.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Square — production for real orders, Sandbox for a dedicated eval- tenant.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Known, independent issue: a webhook-dedup gap in production (Finding 4) — tracked as its own backend ticket, not part of this framework's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investigation notes; design.md conventions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Hamming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834640" cy="502920"/>
          </a:xfrm>
          <a:prstGeom prst="roundRect">
            <a:avLst/>
          </a:prstGeom>
          <a:solidFill>
            <a:srgbClr val="A3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Closed-source SaaS — enterprise voice-agent testing + production monitoring (SOC 2 certified)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E7B34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50K+ concurrent simulated calls with real-world conditions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Auto-converts production failures into regression scenarios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Simulates accents, background noise, interruptions, emotion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Native integrations: LiveKit, Pipecat, ElevenLabs, Retell, Vapi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31F1F"/>
                </a:solidFill>
                <a:latin typeface="Calibri"/>
              </a:rPr>
              <a:t>Gap vs. Our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self-hosting — our transcripts/audio would leave our infra (conflicts with Finding 5's access-control model)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Ultravox integration not advertised or verified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deterministic order-accuracy diff against real backend state (Square)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menu-grounded, per-tenant rubric judging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Closed-source — conflicts with our open-source-first preference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 + addendum (2026-06-23)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Coval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834640" cy="502920"/>
          </a:xfrm>
          <a:prstGeom prst="roundRect">
            <a:avLst/>
          </a:prstGeom>
          <a:solidFill>
            <a:srgbClr val="A3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Closed SaaS (YC-backed) — agent simulation &amp; evaluation for voice and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E7B34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Persona-based conversation simulation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Load and permutation testing at scale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Tool-call / parameter validation against POS, EHR, and other backend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31F1F"/>
                </a:solidFill>
                <a:latin typeface="Calibri"/>
              </a:rPr>
              <a:t>Gap vs. Our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Tool-call validation is generic — not a deterministic diff against real order ground truth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menu-grounding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Ultravox compatibility not verified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self-hosting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 + addendum (2026-06-23)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Cekura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834640" cy="502920"/>
          </a:xfrm>
          <a:prstGeom prst="roundRect">
            <a:avLst/>
          </a:prstGeom>
          <a:solidFill>
            <a:srgbClr val="A3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REJECTED (revisit trigger noted)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Closed SaaS (YC-backed) — voice/chat QA, transparent self-serve pricing from $30/mo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E7B34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Cheapest entry point of all options surveyed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Native integrations: Retell, VAPI, ElevenLabs, LiveKit, Pipecat, Bland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Runtime-agnostic — dials in as a black box, doesn't assume a pipeline shape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Closest fit for the call-placement problem specifically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31F1F"/>
                </a:solidFill>
                <a:latin typeface="Calibri"/>
              </a:rPr>
              <a:t>Gap vs. Our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Still closed-source SaaS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Ultravox compatibility not independently verified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order-accuracy diffing or menu-grounded rubric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Flagged in Finding 11 as the one option to revisit only if our custom call-driver harness proves substantially harder than 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 + addendum (2026-06-23)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Maxim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834640" cy="502920"/>
          </a:xfrm>
          <a:prstGeom prst="roundRect">
            <a:avLst/>
          </a:prstGeom>
          <a:solidFill>
            <a:srgbClr val="A3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Closed SaaS — general GenAI evaluation + observability platform (text and voice)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E7B34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Voice simulation: accents, noise, interruptions, emotional variation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No-code UI — PMs can define/run evals without engineering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Tiered pricing: free (10K logs) → $29/seat → $49/seat → Enterprise 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31F1F"/>
                </a:solidFill>
                <a:latin typeface="Calibri"/>
              </a:rPr>
              <a:t>Gap vs. Our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General-purpose eval rubrics — not menu- or order-aware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Self-hosting only on custom Enterprise tier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Ultravox compatibility not verified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structured backend order-diffing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 + addendum (2026-06-23)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Bespoken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834640" cy="502920"/>
          </a:xfrm>
          <a:prstGeom prst="roundRect">
            <a:avLst/>
          </a:prstGeom>
          <a:solidFill>
            <a:srgbClr val="A3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Closed SaaS — oldest player surveyed (founded 2017), IVR/contact-center heritage extended to LLM chatbots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E7B34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Broad multi-channel coverage: IVR, webchat, WhatsApp, email, SMS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Functional testing + AI-driven exploratory testing for defects/UX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31F1F"/>
                </a:solidFill>
                <a:latin typeface="Calibri"/>
              </a:rPr>
              <a:t>Gap vs. Our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IVR-era architecture — not built around modern voice-LLM Data Connection protocols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self-hosting; Ultravox compatibility not verified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• No order-accuracy diffing or menu-grounded rubric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Other Approaches Surveyed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22B4F"/>
                </a:solidFill>
                <a:latin typeface="Calibri"/>
              </a:rPr>
              <a:t>ServiceNow EVA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    Open-source research benchmark, not a product. Bot-to-bot WebSocket simulation across generic enterprise domains (Airline, IT Service Mgmt, HR). No integration point for a live deployed agent.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22B4F"/>
                </a:solidFill>
                <a:latin typeface="Calibri"/>
              </a:rPr>
              <a:t>VoiceBench / VoiceAgentBench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    Static academic datasets comparing base voice-LLMs on knowledge, instruction-following, safety, and tool-call correctness. Useful as external validation that our "right tool, right payload" metric is industry-recognized — not adoptable as a testing harness.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22B4F"/>
                </a:solidFill>
                <a:latin typeface="Calibri"/>
              </a:rPr>
              <a:t>ESPnet-SDS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    Research toolkit for assembling and comparing your own ASR/LLM/TTS pipeline. Assumes you bring the components being evaluated — no concept of testing an externally-hosted production agent.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22B4F"/>
                </a:solidFill>
                <a:latin typeface="Calibri"/>
              </a:rPr>
              <a:t>Braintrust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    General text-first LLM eval/observability SaaS. No voice-native simulation or audio-quality scoring found.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22B4F"/>
                </a:solidFill>
                <a:latin typeface="Calibri"/>
              </a:rPr>
              <a:t>DeepEval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    Free, open-source, pytest-native — but explicitly has no voice evaluation support ("Python-only, text-based").</a:t>
            </a:r>
          </a:p>
          <a:p>
            <a:pPr>
              <a:spcAft>
                <a:spcPts val="800"/>
              </a:spcAft>
            </a:pPr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Common thread: none of these integrate with a live, externally-hosted production voice agent the way our framework needs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 11 addendum (2026-06-23)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TOOL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Summary: Why Every Option Fell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33855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874519"/>
                <a:gridCol w="1874519"/>
                <a:gridCol w="1645920"/>
                <a:gridCol w="914400"/>
              </a:tblGrid>
              <a:tr h="666205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Self-hosted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Voice sim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Order-accuracy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diff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Menu-grounded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rubric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Ultravox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verified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22B4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Hamming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Coval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 (generic)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Cekura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Maxim 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No*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Bespoken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Our Solution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Yes (custom)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Yes (native)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</a:rPr>
                        <a:t>Building</a:t>
                      </a:r>
                    </a:p>
                  </a:txBody>
                  <a:tcPr>
                    <a:solidFill>
                      <a:srgbClr val="E3F2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* Maxim AI offers on-prem only on a custom Enterprise contract.  Source: idea.md Finding 11 + addendum (2026-06-23)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High-Level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554480"/>
            <a:ext cx="5029200" cy="640080"/>
          </a:xfrm>
          <a:prstGeom prst="roundRect">
            <a:avLst/>
          </a:prstGeom>
          <a:solidFill>
            <a:srgbClr val="122B4F"/>
          </a:solidFill>
          <a:ln>
            <a:solidFill>
              <a:srgbClr val="122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Live Voice Agent  (Ultravox + Lambda / API Gateway)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566160" cy="914400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Observability
Langfuse + Data Connection Listener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3566160" cy="914400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Voice Evaluation Layer
voiceeval shared scoring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566160" cy="914400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Pre-Prod Regression
Promptfoo + Call-Driver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206240"/>
            <a:ext cx="3566160" cy="777240"/>
          </a:xfrm>
          <a:prstGeom prst="roundRect">
            <a:avLst/>
          </a:prstGeom>
          <a:solidFill>
            <a:srgbClr val="1E5C99"/>
          </a:solidFill>
          <a:ln>
            <a:solidFill>
              <a:srgbClr val="1E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Production Pipeline
Continuous scoring on every real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486400"/>
            <a:ext cx="6675120" cy="777240"/>
          </a:xfrm>
          <a:prstGeom prst="roundRect">
            <a:avLst/>
          </a:prstGeom>
          <a:solidFill>
            <a:srgbClr val="122B4F"/>
          </a:solidFill>
          <a:ln>
            <a:solidFill>
              <a:srgbClr val="122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Dashboards
Engineering View  +  Management Scorecard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86000" y="2194560"/>
            <a:ext cx="2834640" cy="54864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194560"/>
            <a:ext cx="0" cy="54864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80" y="2194560"/>
            <a:ext cx="2880360" cy="54864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657600"/>
            <a:ext cx="0" cy="54864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657600"/>
            <a:ext cx="2423160" cy="182880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223760" y="3657600"/>
            <a:ext cx="2697480" cy="182880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4983480"/>
            <a:ext cx="0" cy="50292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Three layers built/deepened on independent schedules; production pipeline + dashboards consume them. Source: CLAUDE.md “Architecture at a glance”, design.md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BLOCK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Observability (Langfuse + Data Connection Listener)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What it does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Langfuse traces every call (trace_id = call_id); a custom asyncio listener joins each call's Data Connection WebSocket to recover the real-time turn-taking / latency signal that Ultravox's webhooks alone can't provide.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Key pieces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Deterministic trace/span schema (span_id = hash(call_id + turn_index)) for idempotent upserts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Tool-call span emission from each Lambda tool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Latency = speaking_started_at − thinking_started_at per turn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A31F1F"/>
                </a:solidFill>
                <a:latin typeface="Calibri"/>
              </a:rPr>
              <a:t>Blocking Open Spike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How a third-party service joins another session's Data Connection mid-call. Approach A (recommended): backend pushes the joinUrl to the listener at call creation. No listener code is written until this resolves.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design/01-observability.md; plan/01b-observability.md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BLOCK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Voice Evaluation Layer (voiceeval library)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What it does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One shared scoring library, called by both Pre-Prod Regression and the Production Pipeline — never duplicated between them (resolves the double-build risk in Finding 10).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Computes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Order-accuracy diff against Square Sandbox / production ground truth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LLM-judge conversational rubrics — escalation correctness, conversation completion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Interruption detection — depends on the Observability listener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Audio quality (NISQA / DNSMOS / UTMOS) — gated on a 20-50 call calibration sample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Why this is the build's long pole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This is the one piece no competing vendor offers: deterministic order-accuracy diffing against a real structured backend, plus per-tenant menu-grounded rubric judging.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design/02-voice-evaluation-layer.md; idea.md Finding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BLOCK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Pre-Prod Regression (Promptfoo + Call-Driver Harness)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What it does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Promptfoo scenario packs run against a dedicated eval- test tenant with Square Sandbox orders, gating releases in CI.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The new custom piece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Promptfoo cannot place or drive a live voice call itself — it's fundamentally text-in/text-out. Our call-driver harness opens a real Ultravox Data Connection session, drives a scripted or LLM-simulated caller persona, and captures the resulting audio + transcript for Promptfoo's assertions.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Sequencing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Phase 0: native Promptfoo assertions only, no harness yet, graded against an already-completed real call.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Phase 3: full scenario packs + the harness + CI release-gate wiring.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design/03-preprod-regression.md; idea.md Finding 11; plan/00, plan/03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BLOCK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Production Pipeline (Continuous Scoring)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What it does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A new, decoupled Lambda subscribed to call.ended — explicitly not an edit to the existing ultravox_webhooks.py, to avoid the blast radius of Finding 4's pre-existing webhook-dedup bug.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Pipeline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Idempotency check → fetch inputs (call-messages, call_order_facts, transaction_details) → score via voiceeval → write EvalScores to the call_id-keyed Langfuse trace.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Guardrails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is_eval_tenant tagging on every score, so eval-tenant calls never pollute production aggregates.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Audio scoring sampled at 10-20% (100% during the calibration window).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Read-only / purely additive — no write path to production order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design/04-production-pipeline.md; plan/04-production-pipeline.md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BLOCK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Dashboards (Engineering View + Management Scorecard)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Engineering / QA view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Native Langfuse trace explorer, filtered by tenant_id — nothing custom to build, available as soon as the Observability block is live.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Management scorecard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The 9-KPI view (order completion, add/edit/delete accuracy, tool call &amp; payload correctness, interruption recovery, latency, voice quality, escalation correctness, prompt version delta), filtered to exclude eval-tenant calls.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Two candidate approaches, gated on an Open Spike (does Langfuse's Hobby tier support custom dashboards?). Fallback: export scores to the existing Prometheus/Grafana stack — which also resolves the Finding 5/6 access tension by keeping only aggregated scores outside Langfuse.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22B4F"/>
                </a:solidFill>
                <a:latin typeface="Calibri"/>
              </a:rPr>
              <a:t>Release-readiness view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    Promptfoo's own CI run output — already covered by Block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design/05-dashboards.md; plan/06-dashboards.md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What the Dashboard Will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Legend:  ● Headline north-star metric    ● Diagnostic, feeds Order Accuracy    ● Secondary / customer experience    ● Cross-cutting trend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92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23317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T="25400" marB="25400"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It Measures (plain language)</a:t>
                      </a:r>
                    </a:p>
                  </a:txBody>
                  <a:tcPr marT="25400" marB="25400"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Ties to North Star</a:t>
                      </a:r>
                    </a:p>
                  </a:txBody>
                  <a:tcPr marT="25400" marB="25400">
                    <a:solidFill>
                      <a:srgbClr val="122B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122B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7B34"/>
                          </a:solidFill>
                        </a:rPr>
                        <a:t>● Order completion 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Did the call end with a real business outcome — order placed, or correctly escalated?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7B34"/>
                          </a:solidFill>
                        </a:rPr>
                        <a:t>Conversation completion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7B34"/>
                          </a:solidFill>
                        </a:rPr>
                        <a:t>● Add/Edit/Delete accuracy %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Of every item added, changed, or removed, what % matched what the customer actually meant?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7B34"/>
                          </a:solidFill>
                        </a:rPr>
                        <a:t>Order accuracy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5C99"/>
                          </a:solidFill>
                        </a:rPr>
                        <a:t>● Correct tool call 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Did the agent trigger the right backend action (add vs. edit vs. delete) for what was said?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5C99"/>
                          </a:solidFill>
                        </a:rPr>
                        <a:t>Feeds order accuracy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5C99"/>
                          </a:solidFill>
                        </a:rPr>
                        <a:t>● Correct tool payload %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When the right action fired, did it carry the right details (item, size, modifiers)?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5C99"/>
                          </a:solidFill>
                        </a:rPr>
                        <a:t>Feeds order accuracy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87A00"/>
                          </a:solidFill>
                        </a:rPr>
                        <a:t>● Interruption recovery 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When a customer talked over the agent, did it recover gracefully?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B87A00"/>
                          </a:solidFill>
                        </a:rPr>
                        <a:t>Customer experience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Partial — needs listener (1b)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87A00"/>
                          </a:solidFill>
                        </a:rPr>
                        <a:t>● Avg + P95 response latency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How fast does the agent reply, typically and in the slowest 5% of cases?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B87A00"/>
                          </a:solidFill>
                        </a:rPr>
                        <a:t>Customer experience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1b/4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87A00"/>
                          </a:solidFill>
                        </a:rPr>
                        <a:t>● Voice quality / naturalness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Does the agent's voice sound natural and clear, not robotic or garbled?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B87A00"/>
                          </a:solidFill>
                        </a:rPr>
                        <a:t>Customer experience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Gated — needs calibration (5)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7B34"/>
                          </a:solidFill>
                        </a:rPr>
                        <a:t>● Escalation correctness %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When a human needed to step in, did the agent hand off at the right moment?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7B34"/>
                          </a:solidFill>
                        </a:rPr>
                        <a:t>Escalation correctness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A3D9A"/>
                          </a:solidFill>
                        </a:rPr>
                        <a:t>● Prompt version delta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After we ship a prompt/config change, did these scores actually go up or down vs. before?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6A3D9A"/>
                          </a:solidFill>
                        </a:rPr>
                        <a:t>Trend across all 3 metrics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Live — Phase 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design/05-dashboards.md KPI list; idea.md Finding 6 (north-star definition)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ARCHITECTURE —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Management Scorecard — Illustrative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A31F1F"/>
                </a:solidFill>
                <a:latin typeface="Calibri"/>
              </a:rPr>
              <a:t>Illustrative template — sample values shown, not real data. Final platform (native Langfuse vs. Grafana export) is gated on an unresolved Open Spike.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1E7B34"/>
                </a:solidFill>
              </a:rPr>
              <a:t>Order Completion %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94.2%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8983" y="1627632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1E7B34"/>
                </a:solidFill>
              </a:rPr>
              <a:t>Add/Edit/Delete Accuracy %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91.7%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766" y="1627632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1E7B34"/>
                </a:solidFill>
              </a:rPr>
              <a:t>Escalation Correctness %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88.5%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1E5C99"/>
                </a:solidFill>
              </a:rPr>
              <a:t>Correct Tool Call %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96.0%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8983" y="3017520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1E5C99"/>
                </a:solidFill>
              </a:rPr>
              <a:t>Correct Tool Payload %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93.4%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0766" y="3017520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B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B87A00"/>
                </a:solidFill>
              </a:rPr>
              <a:t>Avg / P95 Latency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480ms / 1.2s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B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B87A00"/>
                </a:solidFill>
              </a:rPr>
              <a:t>Interruption Recovery %</a:t>
            </a:r>
          </a:p>
          <a:p>
            <a:pPr algn="ctr"/>
            <a:r>
              <a:rPr sz="1100" b="0" i="1">
                <a:solidFill>
                  <a:srgbClr val="6B6B6B"/>
                </a:solidFill>
              </a:rPr>
              <a:t>No data yet</a:t>
            </a:r>
          </a:p>
          <a:p>
            <a:pPr algn="ctr"/>
            <a:r>
              <a:rPr sz="900" i="1">
                <a:solidFill>
                  <a:srgbClr val="6B6B6B"/>
                </a:solidFill>
              </a:rPr>
              <a:t>pending Phase 1b listener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8983" y="4407408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B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B87A00"/>
                </a:solidFill>
              </a:rPr>
              <a:t>Voice Quality Score</a:t>
            </a:r>
          </a:p>
          <a:p>
            <a:pPr algn="ctr"/>
            <a:r>
              <a:rPr sz="1100" b="0" i="1">
                <a:solidFill>
                  <a:srgbClr val="6B6B6B"/>
                </a:solidFill>
              </a:rPr>
              <a:t>No data yet</a:t>
            </a:r>
          </a:p>
          <a:p>
            <a:pPr algn="ctr"/>
            <a:r>
              <a:rPr sz="900" i="1">
                <a:solidFill>
                  <a:srgbClr val="6B6B6B"/>
                </a:solidFill>
              </a:rPr>
              <a:t>pending Phase 5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0766" y="4407408"/>
            <a:ext cx="3642055" cy="12801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>
                <a:solidFill>
                  <a:srgbClr val="6A3D9A"/>
                </a:solidFill>
              </a:rPr>
              <a:t>Prompt Version Δ</a:t>
            </a:r>
          </a:p>
          <a:p>
            <a:pPr algn="ctr"/>
            <a:r>
              <a:rPr sz="2200" b="1" i="0">
                <a:solidFill>
                  <a:srgbClr val="1A1A1A"/>
                </a:solidFill>
              </a:rPr>
              <a:t>+2.3% vs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15584"/>
            <a:ext cx="11292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● Headline north-star metric     ● Feeds Order Accuracy     ● Secondary / customer experience     ● Cross-cutting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eval- tenant calls are excluded from every aggregate shown here (design.md convention).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22B4F"/>
                </a:solidFill>
                <a:latin typeface="Calibri"/>
              </a:rPr>
              <a:t>Why This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Deterministic order-accuracy diffing against real backend state — no surveyed vendor computes this.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Menu-grounded, per-tenant rubric judging — not a generic conversational score.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One shared scoring library for pre-prod and production — no double-build, no drift between "pass" in CI and "pass" in the field.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Full data control — transcripts and audio never leave our own Langfuse instance.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Ultravox compatibility by construction — it's the actual production stack, not an unverified integration claim.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Cost shape: engineering time, not recurring per-seat / per-minute SaaS fees that compound with call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Source: idea.md Findings 5, 7, 9, 10,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